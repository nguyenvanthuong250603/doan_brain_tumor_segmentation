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maranth Bold" charset="1" panose="02000500000000020004"/>
      <p:regular r:id="rId25"/>
    </p:embeddedFont>
    <p:embeddedFont>
      <p:font typeface="Amaranth" charset="1" panose="02000503050000020004"/>
      <p:regular r:id="rId26"/>
    </p:embeddedFont>
    <p:embeddedFont>
      <p:font typeface="Faustina Bold" charset="1" panose="00000800000000000000"/>
      <p:regular r:id="rId27"/>
    </p:embeddedFont>
    <p:embeddedFont>
      <p:font typeface="เอฟซี เดซี่ Bold" charset="1" panose="020B05000402000200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jpeg" Type="http://schemas.openxmlformats.org/officeDocument/2006/relationships/image"/><Relationship Id="rId11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png" Type="http://schemas.openxmlformats.org/officeDocument/2006/relationships/image"/><Relationship Id="rId12" Target="../media/image27.png" Type="http://schemas.openxmlformats.org/officeDocument/2006/relationships/image"/><Relationship Id="rId13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14.png" Type="http://schemas.openxmlformats.org/officeDocument/2006/relationships/image"/><Relationship Id="rId2" Target="../media/image3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62817" y="-333698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00529" y="510486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17248" y="4899023"/>
            <a:ext cx="2669708" cy="2504672"/>
          </a:xfrm>
          <a:custGeom>
            <a:avLst/>
            <a:gdLst/>
            <a:ahLst/>
            <a:cxnLst/>
            <a:rect r="r" b="b" t="t" l="l"/>
            <a:pathLst>
              <a:path h="2504672" w="2669708">
                <a:moveTo>
                  <a:pt x="0" y="0"/>
                </a:moveTo>
                <a:lnTo>
                  <a:pt x="2669708" y="0"/>
                </a:lnTo>
                <a:lnTo>
                  <a:pt x="2669708" y="2504672"/>
                </a:lnTo>
                <a:lnTo>
                  <a:pt x="0" y="2504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563173" y="760339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3" y="2862542"/>
                </a:lnTo>
                <a:lnTo>
                  <a:pt x="2711333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6436186" y="4264918"/>
            <a:ext cx="3303970" cy="1910295"/>
          </a:xfrm>
          <a:custGeom>
            <a:avLst/>
            <a:gdLst/>
            <a:ahLst/>
            <a:cxnLst/>
            <a:rect r="r" b="b" t="t" l="l"/>
            <a:pathLst>
              <a:path h="1910295" w="3303970">
                <a:moveTo>
                  <a:pt x="0" y="1910295"/>
                </a:moveTo>
                <a:lnTo>
                  <a:pt x="3303970" y="1910295"/>
                </a:lnTo>
                <a:lnTo>
                  <a:pt x="3303970" y="0"/>
                </a:lnTo>
                <a:lnTo>
                  <a:pt x="0" y="0"/>
                </a:lnTo>
                <a:lnTo>
                  <a:pt x="0" y="191029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5528281" y="8416748"/>
            <a:ext cx="3462039" cy="1588987"/>
          </a:xfrm>
          <a:custGeom>
            <a:avLst/>
            <a:gdLst/>
            <a:ahLst/>
            <a:cxnLst/>
            <a:rect r="r" b="b" t="t" l="l"/>
            <a:pathLst>
              <a:path h="1588987" w="3462039">
                <a:moveTo>
                  <a:pt x="0" y="1588987"/>
                </a:moveTo>
                <a:lnTo>
                  <a:pt x="3462038" y="1588987"/>
                </a:lnTo>
                <a:lnTo>
                  <a:pt x="3462038" y="0"/>
                </a:lnTo>
                <a:lnTo>
                  <a:pt x="0" y="0"/>
                </a:lnTo>
                <a:lnTo>
                  <a:pt x="0" y="1588987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83635" y="9211242"/>
            <a:ext cx="2960195" cy="1383891"/>
          </a:xfrm>
          <a:custGeom>
            <a:avLst/>
            <a:gdLst/>
            <a:ahLst/>
            <a:cxnLst/>
            <a:rect r="r" b="b" t="t" l="l"/>
            <a:pathLst>
              <a:path h="1383891" w="2960195">
                <a:moveTo>
                  <a:pt x="0" y="0"/>
                </a:moveTo>
                <a:lnTo>
                  <a:pt x="2960196" y="0"/>
                </a:lnTo>
                <a:lnTo>
                  <a:pt x="2960196" y="1383891"/>
                </a:lnTo>
                <a:lnTo>
                  <a:pt x="0" y="138389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18514" y="9662006"/>
            <a:ext cx="1877989" cy="877960"/>
          </a:xfrm>
          <a:custGeom>
            <a:avLst/>
            <a:gdLst/>
            <a:ahLst/>
            <a:cxnLst/>
            <a:rect r="r" b="b" t="t" l="l"/>
            <a:pathLst>
              <a:path h="877960" w="1877989">
                <a:moveTo>
                  <a:pt x="0" y="0"/>
                </a:moveTo>
                <a:lnTo>
                  <a:pt x="1877989" y="0"/>
                </a:lnTo>
                <a:lnTo>
                  <a:pt x="1877989" y="877959"/>
                </a:lnTo>
                <a:lnTo>
                  <a:pt x="0" y="8779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3563733" y="-789179"/>
            <a:ext cx="2960195" cy="1383891"/>
          </a:xfrm>
          <a:custGeom>
            <a:avLst/>
            <a:gdLst/>
            <a:ahLst/>
            <a:cxnLst/>
            <a:rect r="r" b="b" t="t" l="l"/>
            <a:pathLst>
              <a:path h="1383891" w="2960195">
                <a:moveTo>
                  <a:pt x="0" y="1383892"/>
                </a:moveTo>
                <a:lnTo>
                  <a:pt x="2960195" y="1383892"/>
                </a:lnTo>
                <a:lnTo>
                  <a:pt x="2960195" y="0"/>
                </a:lnTo>
                <a:lnTo>
                  <a:pt x="0" y="0"/>
                </a:lnTo>
                <a:lnTo>
                  <a:pt x="0" y="1383892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4509558" y="-438980"/>
            <a:ext cx="1877989" cy="877960"/>
          </a:xfrm>
          <a:custGeom>
            <a:avLst/>
            <a:gdLst/>
            <a:ahLst/>
            <a:cxnLst/>
            <a:rect r="r" b="b" t="t" l="l"/>
            <a:pathLst>
              <a:path h="877960" w="1877989">
                <a:moveTo>
                  <a:pt x="0" y="877960"/>
                </a:moveTo>
                <a:lnTo>
                  <a:pt x="1877989" y="877960"/>
                </a:lnTo>
                <a:lnTo>
                  <a:pt x="1877989" y="0"/>
                </a:lnTo>
                <a:lnTo>
                  <a:pt x="0" y="0"/>
                </a:lnTo>
                <a:lnTo>
                  <a:pt x="0" y="87796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93766" y="2755617"/>
            <a:ext cx="12700467" cy="171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3"/>
              </a:lnSpc>
            </a:pPr>
            <a:r>
              <a:rPr lang="en-US" b="true" sz="6374">
                <a:solidFill>
                  <a:srgbClr val="7DB2FF"/>
                </a:solidFill>
                <a:latin typeface="Amaranth Bold"/>
                <a:ea typeface="Amaranth Bold"/>
                <a:cs typeface="Amaranth Bold"/>
                <a:sym typeface="Amaranth Bold"/>
              </a:rPr>
              <a:t>PHÂN ĐOẠN KHỐI U GLIOMA TỪ MRI ĐA KÊNH BẰNG U-NET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46953" y="6241888"/>
            <a:ext cx="910777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999">
                <a:solidFill>
                  <a:srgbClr val="7DB2FF"/>
                </a:solidFill>
                <a:latin typeface="Amaranth"/>
                <a:ea typeface="Amaranth"/>
                <a:cs typeface="Amaranth"/>
                <a:sym typeface="Amaranth"/>
              </a:rPr>
              <a:t>21114061 - Phan Mạnh Tân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38391" y="7108663"/>
            <a:ext cx="910777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999">
                <a:solidFill>
                  <a:srgbClr val="7DB2FF"/>
                </a:solidFill>
                <a:latin typeface="Amaranth"/>
                <a:ea typeface="Amaranth"/>
                <a:cs typeface="Amaranth"/>
                <a:sym typeface="Amaranth"/>
              </a:rPr>
              <a:t>21121741 - Nguyễn Văn Thương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03373" y="8604731"/>
            <a:ext cx="958018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999">
                <a:solidFill>
                  <a:srgbClr val="7DB2FF"/>
                </a:solidFill>
                <a:latin typeface="Amaranth"/>
                <a:ea typeface="Amaranth"/>
                <a:cs typeface="Amaranth"/>
                <a:sym typeface="Amaranth"/>
              </a:rPr>
              <a:t>GIẢNG VIÊN : ThS.Võ Quang Hoàng Khang</a:t>
            </a:r>
          </a:p>
          <a:p>
            <a:pPr algn="ctr">
              <a:lnSpc>
                <a:spcPts val="41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763199" y="1687728"/>
            <a:ext cx="5466721" cy="47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b="true" sz="3493">
                <a:solidFill>
                  <a:srgbClr val="7DB2FF"/>
                </a:solidFill>
                <a:latin typeface="Amaranth Bold"/>
                <a:ea typeface="Amaranth Bold"/>
                <a:cs typeface="Amaranth Bold"/>
                <a:sym typeface="Amaranth Bold"/>
              </a:rPr>
              <a:t>Khoa Công Nghệ Thông Tin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627479" y="823411"/>
            <a:ext cx="973816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5"/>
              </a:lnSpc>
            </a:pPr>
            <a:r>
              <a:rPr lang="en-US" sz="3500" b="true">
                <a:solidFill>
                  <a:srgbClr val="7DB2FF"/>
                </a:solidFill>
                <a:latin typeface="Amaranth Bold"/>
                <a:ea typeface="Amaranth Bold"/>
                <a:cs typeface="Amaranth Bold"/>
                <a:sym typeface="Amaranth Bold"/>
              </a:rPr>
              <a:t>Trường Đại học Công nghiệp TP. HCM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46953" y="5020181"/>
            <a:ext cx="910777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999">
                <a:solidFill>
                  <a:srgbClr val="7DB2FF"/>
                </a:solidFill>
                <a:latin typeface="Amaranth"/>
                <a:ea typeface="Amaranth"/>
                <a:cs typeface="Amaranth"/>
                <a:sym typeface="Amaranth"/>
              </a:rPr>
              <a:t>Mã nhóm: 069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8046" y="923925"/>
            <a:ext cx="15871254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1. 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Lý do chọn đề tài - tính cấp thiết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7307" y="2737123"/>
            <a:ext cx="15653385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Vấn đề thực tiễn: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U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não (Glioma) cực kỳ nguy hiểm, cần chẩn đoán sớm và chính xác 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Thực trạng: Bác sĩ khoanh vùng thủ công tốn 3-5 giờ/ca, kết quả phụ thuộc chủ quan, dễ sai sót.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Khoảng trống nghiên cứu: Các mô hình 3D hiện đại (nnU-Net) quá nặng, đòi hỏi siêu máy tính, khó triển khai tại bệnh viện tuyến dưới ở Việt Nam.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Tính thời sự &amp; Ứng dụng: Ứng dụng AI (Deep Learning) hỗ trợ chẩn đoán hình ảnh là xu hướng tất yếu của Y tế 4.0.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39296" y="923925"/>
            <a:ext cx="12009409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2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. Mụ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c tiêu nghiên cứu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7307" y="2932352"/>
            <a:ext cx="15653385" cy="555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Mục tiêu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tổng quát: Xây dựng hệ thống tự động phân vùng 3 thành phần k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hối u (Hoại tử, Phù nề, Tăng quang) từ ảnh MRI đa kênh.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Mục tiêu cụ thể: </a:t>
            </a:r>
          </a:p>
          <a:p>
            <a:pPr algn="just" marL="1511301" indent="-503767" lvl="2">
              <a:lnSpc>
                <a:spcPts val="4900"/>
              </a:lnSpc>
              <a:spcBef>
                <a:spcPct val="0"/>
              </a:spcBef>
              <a:buAutoNum type="alphaLcPeriod" startAt="1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Xây dựng pipeline tiền xử lý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dữ liệu chuẩn (BraTS).</a:t>
            </a:r>
          </a:p>
          <a:p>
            <a:pPr algn="just" marL="1511301" indent="-503767" lvl="2">
              <a:lnSpc>
                <a:spcPts val="4900"/>
              </a:lnSpc>
              <a:spcBef>
                <a:spcPct val="0"/>
              </a:spcBef>
              <a:buAutoNum type="alphaLcPeriod" startAt="1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ối ưu kiến trúc U-Net 2D.</a:t>
            </a:r>
          </a:p>
          <a:p>
            <a:pPr algn="just" marL="1511301" indent="-503767" lvl="2">
              <a:lnSpc>
                <a:spcPts val="4900"/>
              </a:lnSpc>
              <a:spcBef>
                <a:spcPct val="0"/>
              </a:spcBef>
              <a:buAutoNum type="alphaLcPeriod" startAt="1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Đề xuất hàm mất mát kết hợp (Combined Loss) để xử lý mất cân bằng dữ liệu.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Yêu cầu kỹ thuật: Độ chính xác (Dice Score) &gt; 0.80; Thời gian xử lý &lt; 30 giây/ca.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86008" y="923925"/>
            <a:ext cx="13115985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3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. Phạm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vi và giới hạn đề tài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7307" y="2996806"/>
            <a:ext cx="15653385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Đối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tượng nghiên cứu: Ảnh MRI não đa phương thức (4 c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huỗi xung: T1, T1ce, T2, FLAIR) của bệnh nhân U thần kinh đệm (Glioma).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Dữ liệu: Bộ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dữ liệu chuẩn quốc tế BraTS Challenge (BraTS 2021/2023).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P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hạm vi thuật toán: Tập trung vào kiến trúc 2D CNN (U-Net), không nghiên cứu các mô hình 3D phức tạp do giới hạn phần cứng.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Giới hạn: Kết quả dựa trên đánh giá kỹ thuật, chưa thử nghiệm lâm sàng trên bệnh nhân thực tế tại bệnh viện.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359492" y="923925"/>
            <a:ext cx="19006985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4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. Tổng quan bài toán &amp; Nghiên cứu liên quan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7307" y="2403192"/>
            <a:ext cx="15653385" cy="61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Các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phương pháp truyền thống: Phân ngưỡng (Thresholding), Phát tr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iển vùng (Region Growing) → Nhược điểm: Kém chính xác khi ảnh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nhiễu, cần can thiệp thủ công nhiều 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Các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phương pháp hiện đại (Deep Learning):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U-Net (2015): Kiến trúc Encoder-Decoder chuẩn mực.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3D U-Net / Attention U-Net: Độ chính xác cao nhưng tốn tài nguyên tính toán lớn.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Lý do cần nghiên cứu mới: Cần một giải pháp "Nhẹ - Nhanh - Chính xác", chạy được trên GPU phổ thông mà vẫn đảm bảo hiệu suất chẩn đoán.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68248" y="1343577"/>
            <a:ext cx="8688388" cy="7996937"/>
          </a:xfrm>
          <a:custGeom>
            <a:avLst/>
            <a:gdLst/>
            <a:ahLst/>
            <a:cxnLst/>
            <a:rect r="r" b="b" t="t" l="l"/>
            <a:pathLst>
              <a:path h="7996937" w="8688388">
                <a:moveTo>
                  <a:pt x="0" y="0"/>
                </a:moveTo>
                <a:lnTo>
                  <a:pt x="8688389" y="0"/>
                </a:lnTo>
                <a:lnTo>
                  <a:pt x="8688389" y="7996937"/>
                </a:lnTo>
                <a:lnTo>
                  <a:pt x="0" y="79969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359492" y="165101"/>
            <a:ext cx="19006985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5 . Cơ sở lý thuyết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6431" y="1397000"/>
            <a:ext cx="8687569" cy="829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Đặc điểm các kênh MRI trong phân vùng u não: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T1: Ảnh trọng số T1, hiển thị tốt cấu trúc giải phẫu. CSF tối.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T2: Ảnh trọng số T2, nhạy với nước. Phù nề và dịch → sáng.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T1ce: T1 có tiêm chất tương phản. Làm nổi bật vùng u tăng bắt thuốc (ET).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FLAIR: Ảnh T2 loại bỏ tín hiệu CSF. Dễ thấy phù quanh u (ED).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U-Net – mô hình kinh điển cho phân vùng y sinh: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Cấu trúc hình chữ U đối xứng gồm: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Encoder: Trích xuất đặc trưng, giảm kích thước ảnh.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Decoder: Khôi phục kích thước để tạo bản đồ phân vùng.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Skip Connections: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Truyền trực tiếp thông tin không gian từ Encoder sang Decoder.</a:t>
            </a:r>
          </a:p>
          <a:p>
            <a:pPr algn="just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Giúp mô hình giữ biên tốt, tái tạo chi tiết chính xác.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Ưu điểm: Hiệu quả cao trong phân vùng ảnh y tế – đặc biệt với cấu trúc phức tạp như khối u não.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50795" y="1408112"/>
            <a:ext cx="12786410" cy="8518946"/>
          </a:xfrm>
          <a:custGeom>
            <a:avLst/>
            <a:gdLst/>
            <a:ahLst/>
            <a:cxnLst/>
            <a:rect r="r" b="b" t="t" l="l"/>
            <a:pathLst>
              <a:path h="8518946" w="12786410">
                <a:moveTo>
                  <a:pt x="0" y="0"/>
                </a:moveTo>
                <a:lnTo>
                  <a:pt x="12786410" y="0"/>
                </a:lnTo>
                <a:lnTo>
                  <a:pt x="12786410" y="8518946"/>
                </a:lnTo>
                <a:lnTo>
                  <a:pt x="0" y="85189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359492" y="165101"/>
            <a:ext cx="19006985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5 . Cơ sở lý thuyết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12445" y="4792885"/>
            <a:ext cx="8889236" cy="2328980"/>
          </a:xfrm>
          <a:custGeom>
            <a:avLst/>
            <a:gdLst/>
            <a:ahLst/>
            <a:cxnLst/>
            <a:rect r="r" b="b" t="t" l="l"/>
            <a:pathLst>
              <a:path h="2328980" w="8889236">
                <a:moveTo>
                  <a:pt x="0" y="0"/>
                </a:moveTo>
                <a:lnTo>
                  <a:pt x="8889236" y="0"/>
                </a:lnTo>
                <a:lnTo>
                  <a:pt x="8889236" y="2328980"/>
                </a:lnTo>
                <a:lnTo>
                  <a:pt x="0" y="23289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94715" y="8773195"/>
            <a:ext cx="14098571" cy="898784"/>
          </a:xfrm>
          <a:custGeom>
            <a:avLst/>
            <a:gdLst/>
            <a:ahLst/>
            <a:cxnLst/>
            <a:rect r="r" b="b" t="t" l="l"/>
            <a:pathLst>
              <a:path h="898784" w="14098571">
                <a:moveTo>
                  <a:pt x="0" y="0"/>
                </a:moveTo>
                <a:lnTo>
                  <a:pt x="14098570" y="0"/>
                </a:lnTo>
                <a:lnTo>
                  <a:pt x="14098570" y="898784"/>
                </a:lnTo>
                <a:lnTo>
                  <a:pt x="0" y="8987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12445" y="2887522"/>
            <a:ext cx="8889236" cy="1050737"/>
          </a:xfrm>
          <a:custGeom>
            <a:avLst/>
            <a:gdLst/>
            <a:ahLst/>
            <a:cxnLst/>
            <a:rect r="r" b="b" t="t" l="l"/>
            <a:pathLst>
              <a:path h="1050737" w="8889236">
                <a:moveTo>
                  <a:pt x="0" y="0"/>
                </a:moveTo>
                <a:lnTo>
                  <a:pt x="8889236" y="0"/>
                </a:lnTo>
                <a:lnTo>
                  <a:pt x="8889236" y="1050737"/>
                </a:lnTo>
                <a:lnTo>
                  <a:pt x="0" y="105073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48464" y="1947209"/>
            <a:ext cx="7173122" cy="691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Sơ</a:t>
            </a:r>
            <a:r>
              <a:rPr lang="en-US" sz="3000" b="true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đồ quy trình (Pipeline):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Input: 4 kênh MRI → Tiền xử lý: Chuẩn hóa Z-score,</a:t>
            </a: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Cắt bỏ lát rỗng (Slice Selection) 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Augme</a:t>
            </a: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ntat</a:t>
            </a: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ion: Xoay, lật, chỉnh độ sáng, nhiễu Gaussian.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Model: U-Net 2D (Encoder 4 tầng, Bottleneck 512 filters).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Điểm mới - Hàm Loss đề xuất: 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Công thức L_total</a:t>
            </a:r>
          </a:p>
          <a:p>
            <a:pPr algn="just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Class Weights: [0.1, 2.0, 2.0, 3.0] →  Tập trung tối đa vào vùng lõi u nhỏ và khó.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-446905" y="923925"/>
            <a:ext cx="19181811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6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. Phương pháp thực hiện &amp; Mô hình đề xuất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25511" y="1563433"/>
            <a:ext cx="15236979" cy="8317843"/>
          </a:xfrm>
          <a:custGeom>
            <a:avLst/>
            <a:gdLst/>
            <a:ahLst/>
            <a:cxnLst/>
            <a:rect r="r" b="b" t="t" l="l"/>
            <a:pathLst>
              <a:path h="8317843" w="15236979">
                <a:moveTo>
                  <a:pt x="0" y="0"/>
                </a:moveTo>
                <a:lnTo>
                  <a:pt x="15236978" y="0"/>
                </a:lnTo>
                <a:lnTo>
                  <a:pt x="15236978" y="8317843"/>
                </a:lnTo>
                <a:lnTo>
                  <a:pt x="0" y="83178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521532" y="541310"/>
            <a:ext cx="19331064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U-net 2D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53681" y="1462260"/>
            <a:ext cx="8115300" cy="2034264"/>
          </a:xfrm>
          <a:custGeom>
            <a:avLst/>
            <a:gdLst/>
            <a:ahLst/>
            <a:cxnLst/>
            <a:rect r="r" b="b" t="t" l="l"/>
            <a:pathLst>
              <a:path h="2034264" w="8115300">
                <a:moveTo>
                  <a:pt x="0" y="0"/>
                </a:moveTo>
                <a:lnTo>
                  <a:pt x="8115300" y="0"/>
                </a:lnTo>
                <a:lnTo>
                  <a:pt x="8115300" y="2034264"/>
                </a:lnTo>
                <a:lnTo>
                  <a:pt x="0" y="20342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53681" y="3905916"/>
            <a:ext cx="8117056" cy="5316671"/>
          </a:xfrm>
          <a:custGeom>
            <a:avLst/>
            <a:gdLst/>
            <a:ahLst/>
            <a:cxnLst/>
            <a:rect r="r" b="b" t="t" l="l"/>
            <a:pathLst>
              <a:path h="5316671" w="8117056">
                <a:moveTo>
                  <a:pt x="0" y="0"/>
                </a:moveTo>
                <a:lnTo>
                  <a:pt x="8117056" y="0"/>
                </a:lnTo>
                <a:lnTo>
                  <a:pt x="8117056" y="5316671"/>
                </a:lnTo>
                <a:lnTo>
                  <a:pt x="0" y="53166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89540" y="122410"/>
            <a:ext cx="14908919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7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. Thực nghiệm - Kết quả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9652" y="2309573"/>
            <a:ext cx="6550323" cy="146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Dữ liệu: Gồm 1000 tập brats được chuyển thành .h5 Chia tập 70% Train - 20% Val - 10% Test.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49652" y="4190349"/>
            <a:ext cx="6550323" cy="492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Segmentation labels: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Tumor core (TC): Khu vực của khối u chính.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Enhancing tumor (ET): Khu vực của khối u sau khi tiêm thuốc tương phản.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Peritumoral edema (ED): Khu vực sưng tấy xung quanh khối u.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Background: Các khu vực không phải khối u.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49652" y="1386060"/>
            <a:ext cx="655032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Bộ dữ liệu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42152" y="-1510729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84367" y="2444846"/>
            <a:ext cx="6076915" cy="7410871"/>
          </a:xfrm>
          <a:custGeom>
            <a:avLst/>
            <a:gdLst/>
            <a:ahLst/>
            <a:cxnLst/>
            <a:rect r="r" b="b" t="t" l="l"/>
            <a:pathLst>
              <a:path h="7410871" w="6076915">
                <a:moveTo>
                  <a:pt x="0" y="0"/>
                </a:moveTo>
                <a:lnTo>
                  <a:pt x="6076914" y="0"/>
                </a:lnTo>
                <a:lnTo>
                  <a:pt x="6076914" y="7410872"/>
                </a:lnTo>
                <a:lnTo>
                  <a:pt x="0" y="7410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444846"/>
            <a:ext cx="6397339" cy="7410871"/>
          </a:xfrm>
          <a:custGeom>
            <a:avLst/>
            <a:gdLst/>
            <a:ahLst/>
            <a:cxnLst/>
            <a:rect r="r" b="b" t="t" l="l"/>
            <a:pathLst>
              <a:path h="7410871" w="6397339">
                <a:moveTo>
                  <a:pt x="0" y="0"/>
                </a:moveTo>
                <a:lnTo>
                  <a:pt x="6397339" y="0"/>
                </a:lnTo>
                <a:lnTo>
                  <a:pt x="6397339" y="7410872"/>
                </a:lnTo>
                <a:lnTo>
                  <a:pt x="0" y="74108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60180" y="250658"/>
            <a:ext cx="1456764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7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. Thực nghiệm - Kết quả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7711" y="1323808"/>
            <a:ext cx="6564621" cy="64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9"/>
              </a:lnSpc>
              <a:spcBef>
                <a:spcPct val="0"/>
              </a:spcBef>
            </a:pPr>
            <a:r>
              <a:rPr lang="en-US" b="true" sz="384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Thông số train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98652" y="1353825"/>
            <a:ext cx="6564621" cy="64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9"/>
              </a:lnSpc>
              <a:spcBef>
                <a:spcPct val="0"/>
              </a:spcBef>
            </a:pPr>
            <a:r>
              <a:rPr lang="en-US" b="true" sz="384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Kết quả train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8934" y="1226844"/>
            <a:ext cx="5780370" cy="3843531"/>
          </a:xfrm>
          <a:custGeom>
            <a:avLst/>
            <a:gdLst/>
            <a:ahLst/>
            <a:cxnLst/>
            <a:rect r="r" b="b" t="t" l="l"/>
            <a:pathLst>
              <a:path h="3843531" w="5780370">
                <a:moveTo>
                  <a:pt x="0" y="0"/>
                </a:moveTo>
                <a:lnTo>
                  <a:pt x="5780370" y="0"/>
                </a:lnTo>
                <a:lnTo>
                  <a:pt x="5780370" y="3843531"/>
                </a:lnTo>
                <a:lnTo>
                  <a:pt x="0" y="38435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22999" y="1226844"/>
            <a:ext cx="5833638" cy="3916656"/>
          </a:xfrm>
          <a:custGeom>
            <a:avLst/>
            <a:gdLst/>
            <a:ahLst/>
            <a:cxnLst/>
            <a:rect r="r" b="b" t="t" l="l"/>
            <a:pathLst>
              <a:path h="3916656" w="5833638">
                <a:moveTo>
                  <a:pt x="0" y="0"/>
                </a:moveTo>
                <a:lnTo>
                  <a:pt x="5833638" y="0"/>
                </a:lnTo>
                <a:lnTo>
                  <a:pt x="5833638" y="3916656"/>
                </a:lnTo>
                <a:lnTo>
                  <a:pt x="0" y="39166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41327" y="5404561"/>
            <a:ext cx="6805346" cy="4545724"/>
          </a:xfrm>
          <a:custGeom>
            <a:avLst/>
            <a:gdLst/>
            <a:ahLst/>
            <a:cxnLst/>
            <a:rect r="r" b="b" t="t" l="l"/>
            <a:pathLst>
              <a:path h="4545724" w="6805346">
                <a:moveTo>
                  <a:pt x="0" y="0"/>
                </a:moveTo>
                <a:lnTo>
                  <a:pt x="6805346" y="0"/>
                </a:lnTo>
                <a:lnTo>
                  <a:pt x="6805346" y="4545724"/>
                </a:lnTo>
                <a:lnTo>
                  <a:pt x="0" y="45457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84654" y="293740"/>
            <a:ext cx="13718692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7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. Thực nghiệm - Kết quả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326967" y="5483582"/>
            <a:ext cx="65646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Biểu đồ loss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76583" y="5254982"/>
            <a:ext cx="257337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Biểu đồ mean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62829" y="4095750"/>
            <a:ext cx="312475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Biểu đồ chi tiết các giá trị học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20590" y="1313437"/>
            <a:ext cx="13246821" cy="8809136"/>
          </a:xfrm>
          <a:custGeom>
            <a:avLst/>
            <a:gdLst/>
            <a:ahLst/>
            <a:cxnLst/>
            <a:rect r="r" b="b" t="t" l="l"/>
            <a:pathLst>
              <a:path h="8809136" w="13246821">
                <a:moveTo>
                  <a:pt x="0" y="0"/>
                </a:moveTo>
                <a:lnTo>
                  <a:pt x="13246820" y="0"/>
                </a:lnTo>
                <a:lnTo>
                  <a:pt x="13246820" y="8809136"/>
                </a:lnTo>
                <a:lnTo>
                  <a:pt x="0" y="88091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21620" y="259105"/>
            <a:ext cx="11044761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8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. Kết quả định tính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99576" y="1317041"/>
            <a:ext cx="9888849" cy="2993314"/>
          </a:xfrm>
          <a:custGeom>
            <a:avLst/>
            <a:gdLst/>
            <a:ahLst/>
            <a:cxnLst/>
            <a:rect r="r" b="b" t="t" l="l"/>
            <a:pathLst>
              <a:path h="2993314" w="9888849">
                <a:moveTo>
                  <a:pt x="0" y="0"/>
                </a:moveTo>
                <a:lnTo>
                  <a:pt x="9888848" y="0"/>
                </a:lnTo>
                <a:lnTo>
                  <a:pt x="9888848" y="2993314"/>
                </a:lnTo>
                <a:lnTo>
                  <a:pt x="0" y="2993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890" r="0" b="-389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99576" y="4412062"/>
            <a:ext cx="9888849" cy="5661366"/>
          </a:xfrm>
          <a:custGeom>
            <a:avLst/>
            <a:gdLst/>
            <a:ahLst/>
            <a:cxnLst/>
            <a:rect r="r" b="b" t="t" l="l"/>
            <a:pathLst>
              <a:path h="5661366" w="9888849">
                <a:moveTo>
                  <a:pt x="0" y="0"/>
                </a:moveTo>
                <a:lnTo>
                  <a:pt x="9888848" y="0"/>
                </a:lnTo>
                <a:lnTo>
                  <a:pt x="9888848" y="5661366"/>
                </a:lnTo>
                <a:lnTo>
                  <a:pt x="0" y="56613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60451" y="293740"/>
            <a:ext cx="11767098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8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. Kết quả định tính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7407" y="544513"/>
            <a:ext cx="15153186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9.</a:t>
            </a: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Đóng góp mới của đề tài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7307" y="2117998"/>
            <a:ext cx="15653385" cy="679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Phần tự làm: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Tự xây dựng trọn vẹn pipeline từ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xử lý dữ liệu thô đến huấn luyện và đánh giá.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Tự thiết kế c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hiến lược chọn lát cắt thông minh để loại bỏ nhiễu.</a:t>
            </a:r>
          </a:p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Đóng góp mới: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Đề xuất tỷ lệ Combined Loss 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tối ưu (0.4:0.4:0.2) cho dữ liệu BraTS.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Chứng mi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nh hiệu quả của mô hình 2D "nhẹ" (7.7 triệu tham số) so với các mô hình 3D nặng 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nề.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Tốt hơn phương pháp cũ: Tốc độ suy luận &lt; 30 giây/ca (nhanh hơn hàng trăm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lần so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với làm tay), chi phí phần cứng thấp.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48958" y="923925"/>
            <a:ext cx="14390084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10. Hạn chế của đề tài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7307" y="2403192"/>
            <a:ext cx="15653385" cy="555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Mất thông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tin 3D: Do xử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lý từng lát cắt 2D độc lập nên thiếu sự liên kết không gian g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iữa các lát (trục Z).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Chỉ thử nghiệm trên dữ liệu BraTS đã chuẩn hóa → chưa kiểm chứng trên MRI thô từ bệnh viện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Hiện tượng Overfitting 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nhẹ: Sau epoch 32, validation dice có xu hướng giảm nhẹ.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Chưa kiểm thử lâm sàng: Chưa có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đánh g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iá từ bác sĩ trên bệnh nhân thực tế.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Mô hình chưa ổn định với vùng khó đặc biệt là vùng NCR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3757" y="923925"/>
            <a:ext cx="16940487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11. Hướng phát triển tương lai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7307" y="2723615"/>
            <a:ext cx="15653385" cy="61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Cải tiến mô hình: Thử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nghiệm 3D U-Net hoặc tích hợp Atten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tion Gate để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tăng độ chính xác biên 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Mở rộng d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ữ liệu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: T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hu thập thêm dữ liệu đa trung tâm từ các bệnh viện thực tế để tăng tính tổng quát hóa.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Sả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n phẩm hóa: Xây dựng Web App hoặc tích hợp vào hệ thống PACS để bác sĩ có thể sử dụng trực tiếp.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Expl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ainable AI: Tích hợp Grad-CAM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để g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iải thích tại sao mô hình lại khoanh vùng như vậy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Kết hợp AI xây dựng thông AI Agent tự động hóa các quy trình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61627" y="923925"/>
            <a:ext cx="8764745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12. Kết luận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7307" y="1805787"/>
            <a:ext cx="15653385" cy="741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Tổng quát: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Đề tài đã xây dựng thành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 công mô hình U-Net 2D cho phân vùng khối u nã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o trê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n MRI, đạt Dice Score 0.8355, đáp ứng được mục tiêu nghiên cứu.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Quy trình tiền xử lý – huấn luyện – đánh giá được chuẩn hóa đầy đủ, với nhiều cải tiến như kết hợp Dice + CE Loss, class weigh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ts, LR schedule, data augmentation.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Mô hì</a:t>
            </a: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nh cho thấy tính hiệu quả và khả thi cao, có thể triển khai trong môi trường thực tế.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Hạn chế: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Dữ liệu còn hạn chế và chưa đa dạng.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Kiến trúc 2D chưa khai thác thông tin không gian 3D.</a:t>
            </a:r>
          </a:p>
          <a:p>
            <a:pPr algn="just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17548F"/>
                </a:solidFill>
                <a:latin typeface="Faustina Bold"/>
                <a:ea typeface="Faustina Bold"/>
                <a:cs typeface="Faustina Bold"/>
                <a:sym typeface="Faustina Bold"/>
              </a:rPr>
              <a:t>Xuất hiện overfitting nhẹ và chưa có đánh giá lâm sàng thực tế.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2939" y="1028700"/>
            <a:ext cx="13142121" cy="8229600"/>
          </a:xfrm>
          <a:custGeom>
            <a:avLst/>
            <a:gdLst/>
            <a:ahLst/>
            <a:cxnLst/>
            <a:rect r="r" b="b" t="t" l="l"/>
            <a:pathLst>
              <a:path h="8229600" w="13142121">
                <a:moveTo>
                  <a:pt x="0" y="0"/>
                </a:moveTo>
                <a:lnTo>
                  <a:pt x="13142122" y="0"/>
                </a:lnTo>
                <a:lnTo>
                  <a:pt x="1314212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77410" y="7976491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32185" y="-1480712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326967" y="7677423"/>
            <a:ext cx="2711333" cy="2862542"/>
          </a:xfrm>
          <a:custGeom>
            <a:avLst/>
            <a:gdLst/>
            <a:ahLst/>
            <a:cxnLst/>
            <a:rect r="r" b="b" t="t" l="l"/>
            <a:pathLst>
              <a:path h="2862542" w="2711333">
                <a:moveTo>
                  <a:pt x="0" y="2862542"/>
                </a:moveTo>
                <a:lnTo>
                  <a:pt x="2711334" y="2862542"/>
                </a:lnTo>
                <a:lnTo>
                  <a:pt x="2711334" y="0"/>
                </a:lnTo>
                <a:lnTo>
                  <a:pt x="0" y="0"/>
                </a:lnTo>
                <a:lnTo>
                  <a:pt x="0" y="286254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463272" y="-421992"/>
            <a:ext cx="3214928" cy="2901385"/>
          </a:xfrm>
          <a:custGeom>
            <a:avLst/>
            <a:gdLst/>
            <a:ahLst/>
            <a:cxnLst/>
            <a:rect r="r" b="b" t="t" l="l"/>
            <a:pathLst>
              <a:path h="2901385" w="3214928">
                <a:moveTo>
                  <a:pt x="3214929" y="2901384"/>
                </a:moveTo>
                <a:lnTo>
                  <a:pt x="0" y="2901384"/>
                </a:lnTo>
                <a:lnTo>
                  <a:pt x="0" y="0"/>
                </a:lnTo>
                <a:lnTo>
                  <a:pt x="3214929" y="0"/>
                </a:lnTo>
                <a:lnTo>
                  <a:pt x="3214929" y="290138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5635604" y="9222587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1317378"/>
                </a:moveTo>
                <a:lnTo>
                  <a:pt x="2870265" y="1317378"/>
                </a:lnTo>
                <a:lnTo>
                  <a:pt x="2870265" y="0"/>
                </a:lnTo>
                <a:lnTo>
                  <a:pt x="0" y="0"/>
                </a:lnTo>
                <a:lnTo>
                  <a:pt x="0" y="1317378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40456" y="3726328"/>
            <a:ext cx="2902960" cy="2834344"/>
          </a:xfrm>
          <a:custGeom>
            <a:avLst/>
            <a:gdLst/>
            <a:ahLst/>
            <a:cxnLst/>
            <a:rect r="r" b="b" t="t" l="l"/>
            <a:pathLst>
              <a:path h="2834344" w="2902960">
                <a:moveTo>
                  <a:pt x="0" y="0"/>
                </a:moveTo>
                <a:lnTo>
                  <a:pt x="2902960" y="0"/>
                </a:lnTo>
                <a:lnTo>
                  <a:pt x="2902960" y="2834344"/>
                </a:lnTo>
                <a:lnTo>
                  <a:pt x="0" y="28343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34562" y="3230563"/>
            <a:ext cx="8013094" cy="343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0"/>
              </a:lnSpc>
            </a:pPr>
            <a:r>
              <a:rPr lang="en-US" b="true" sz="20000">
                <a:solidFill>
                  <a:srgbClr val="3E71A9"/>
                </a:solidFill>
                <a:latin typeface="เอฟซี เดซี่ Bold"/>
                <a:ea typeface="เอฟซี เดซี่ Bold"/>
                <a:cs typeface="เอฟซี เดซี่ Bold"/>
                <a:sym typeface="เอฟซี เดซี่ Bold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47041" y="263470"/>
            <a:ext cx="2683548" cy="765230"/>
          </a:xfrm>
          <a:custGeom>
            <a:avLst/>
            <a:gdLst/>
            <a:ahLst/>
            <a:cxnLst/>
            <a:rect r="r" b="b" t="t" l="l"/>
            <a:pathLst>
              <a:path h="765230" w="2683548">
                <a:moveTo>
                  <a:pt x="0" y="0"/>
                </a:moveTo>
                <a:lnTo>
                  <a:pt x="2683548" y="0"/>
                </a:lnTo>
                <a:lnTo>
                  <a:pt x="2683548" y="765230"/>
                </a:lnTo>
                <a:lnTo>
                  <a:pt x="0" y="76523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DAG6XU-MUa8</dc:identifier>
  <dcterms:modified xsi:type="dcterms:W3CDTF">2011-08-01T06:04:30Z</dcterms:modified>
  <cp:revision>1</cp:revision>
  <dc:title>Final</dc:title>
</cp:coreProperties>
</file>