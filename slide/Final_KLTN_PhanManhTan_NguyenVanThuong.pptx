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Amaranth Bold" charset="1" panose="02000500000000020004"/>
      <p:regular r:id="rId23"/>
    </p:embeddedFont>
    <p:embeddedFont>
      <p:font typeface="Faustina Bold" charset="1" panose="000008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5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6.png" Type="http://schemas.openxmlformats.org/officeDocument/2006/relationships/image"/><Relationship Id="rId13" Target="../media/image17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8.png" Type="http://schemas.openxmlformats.org/officeDocument/2006/relationships/image"/><Relationship Id="rId13" Target="../media/image1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20.png" Type="http://schemas.openxmlformats.org/officeDocument/2006/relationships/image"/><Relationship Id="rId13" Target="../media/image21.png" Type="http://schemas.openxmlformats.org/officeDocument/2006/relationships/image"/><Relationship Id="rId14" Target="../media/image22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23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24.png" Type="http://schemas.openxmlformats.org/officeDocument/2006/relationships/image"/><Relationship Id="rId13" Target="../media/image25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-3600450"/>
            <a:ext cx="7200900" cy="7200900"/>
          </a:xfrm>
          <a:custGeom>
            <a:avLst/>
            <a:gdLst/>
            <a:ahLst/>
            <a:cxnLst/>
            <a:rect r="r" b="b" t="t" l="l"/>
            <a:pathLst>
              <a:path h="7200900" w="7200900">
                <a:moveTo>
                  <a:pt x="0" y="0"/>
                </a:moveTo>
                <a:lnTo>
                  <a:pt x="7200900" y="0"/>
                </a:lnTo>
                <a:lnTo>
                  <a:pt x="7200900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800529" y="5104860"/>
            <a:ext cx="7200900" cy="7200900"/>
          </a:xfrm>
          <a:custGeom>
            <a:avLst/>
            <a:gdLst/>
            <a:ahLst/>
            <a:cxnLst/>
            <a:rect r="r" b="b" t="t" l="l"/>
            <a:pathLst>
              <a:path h="7200900" w="7200900">
                <a:moveTo>
                  <a:pt x="0" y="0"/>
                </a:moveTo>
                <a:lnTo>
                  <a:pt x="7200900" y="0"/>
                </a:lnTo>
                <a:lnTo>
                  <a:pt x="7200900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17248" y="4899023"/>
            <a:ext cx="2669708" cy="2504672"/>
          </a:xfrm>
          <a:custGeom>
            <a:avLst/>
            <a:gdLst/>
            <a:ahLst/>
            <a:cxnLst/>
            <a:rect r="r" b="b" t="t" l="l"/>
            <a:pathLst>
              <a:path h="2504672" w="2669708">
                <a:moveTo>
                  <a:pt x="0" y="0"/>
                </a:moveTo>
                <a:lnTo>
                  <a:pt x="2669708" y="0"/>
                </a:lnTo>
                <a:lnTo>
                  <a:pt x="2669708" y="2504672"/>
                </a:lnTo>
                <a:lnTo>
                  <a:pt x="0" y="25046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563173" y="760339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3" y="2862542"/>
                </a:lnTo>
                <a:lnTo>
                  <a:pt x="2711333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9496560" y="-1052381"/>
            <a:ext cx="3303970" cy="1910295"/>
          </a:xfrm>
          <a:custGeom>
            <a:avLst/>
            <a:gdLst/>
            <a:ahLst/>
            <a:cxnLst/>
            <a:rect r="r" b="b" t="t" l="l"/>
            <a:pathLst>
              <a:path h="1910295" w="3303970">
                <a:moveTo>
                  <a:pt x="0" y="1910296"/>
                </a:moveTo>
                <a:lnTo>
                  <a:pt x="3303969" y="1910296"/>
                </a:lnTo>
                <a:lnTo>
                  <a:pt x="3303969" y="0"/>
                </a:lnTo>
                <a:lnTo>
                  <a:pt x="0" y="0"/>
                </a:lnTo>
                <a:lnTo>
                  <a:pt x="0" y="1910296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true" rot="0">
            <a:off x="15528281" y="8416748"/>
            <a:ext cx="3462039" cy="1588987"/>
          </a:xfrm>
          <a:custGeom>
            <a:avLst/>
            <a:gdLst/>
            <a:ahLst/>
            <a:cxnLst/>
            <a:rect r="r" b="b" t="t" l="l"/>
            <a:pathLst>
              <a:path h="1588987" w="3462039">
                <a:moveTo>
                  <a:pt x="0" y="1588987"/>
                </a:moveTo>
                <a:lnTo>
                  <a:pt x="3462038" y="1588987"/>
                </a:lnTo>
                <a:lnTo>
                  <a:pt x="3462038" y="0"/>
                </a:lnTo>
                <a:lnTo>
                  <a:pt x="0" y="0"/>
                </a:lnTo>
                <a:lnTo>
                  <a:pt x="0" y="1588987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083635" y="9211242"/>
            <a:ext cx="2960195" cy="1383891"/>
          </a:xfrm>
          <a:custGeom>
            <a:avLst/>
            <a:gdLst/>
            <a:ahLst/>
            <a:cxnLst/>
            <a:rect r="r" b="b" t="t" l="l"/>
            <a:pathLst>
              <a:path h="1383891" w="2960195">
                <a:moveTo>
                  <a:pt x="0" y="0"/>
                </a:moveTo>
                <a:lnTo>
                  <a:pt x="2960196" y="0"/>
                </a:lnTo>
                <a:lnTo>
                  <a:pt x="2960196" y="1383891"/>
                </a:lnTo>
                <a:lnTo>
                  <a:pt x="0" y="138389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318514" y="9662006"/>
            <a:ext cx="1877989" cy="877960"/>
          </a:xfrm>
          <a:custGeom>
            <a:avLst/>
            <a:gdLst/>
            <a:ahLst/>
            <a:cxnLst/>
            <a:rect r="r" b="b" t="t" l="l"/>
            <a:pathLst>
              <a:path h="877960" w="1877989">
                <a:moveTo>
                  <a:pt x="0" y="0"/>
                </a:moveTo>
                <a:lnTo>
                  <a:pt x="1877989" y="0"/>
                </a:lnTo>
                <a:lnTo>
                  <a:pt x="1877989" y="877959"/>
                </a:lnTo>
                <a:lnTo>
                  <a:pt x="0" y="8779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0">
            <a:off x="13563733" y="-789179"/>
            <a:ext cx="2960195" cy="1383891"/>
          </a:xfrm>
          <a:custGeom>
            <a:avLst/>
            <a:gdLst/>
            <a:ahLst/>
            <a:cxnLst/>
            <a:rect r="r" b="b" t="t" l="l"/>
            <a:pathLst>
              <a:path h="1383891" w="2960195">
                <a:moveTo>
                  <a:pt x="0" y="1383892"/>
                </a:moveTo>
                <a:lnTo>
                  <a:pt x="2960195" y="1383892"/>
                </a:lnTo>
                <a:lnTo>
                  <a:pt x="2960195" y="0"/>
                </a:lnTo>
                <a:lnTo>
                  <a:pt x="0" y="0"/>
                </a:lnTo>
                <a:lnTo>
                  <a:pt x="0" y="1383892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true" rot="0">
            <a:off x="5543550" y="-283247"/>
            <a:ext cx="1877989" cy="877960"/>
          </a:xfrm>
          <a:custGeom>
            <a:avLst/>
            <a:gdLst/>
            <a:ahLst/>
            <a:cxnLst/>
            <a:rect r="r" b="b" t="t" l="l"/>
            <a:pathLst>
              <a:path h="877960" w="1877989">
                <a:moveTo>
                  <a:pt x="0" y="877960"/>
                </a:moveTo>
                <a:lnTo>
                  <a:pt x="1877989" y="877960"/>
                </a:lnTo>
                <a:lnTo>
                  <a:pt x="1877989" y="0"/>
                </a:lnTo>
                <a:lnTo>
                  <a:pt x="0" y="0"/>
                </a:lnTo>
                <a:lnTo>
                  <a:pt x="0" y="87796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23370" y="264889"/>
            <a:ext cx="4458180" cy="1271278"/>
          </a:xfrm>
          <a:custGeom>
            <a:avLst/>
            <a:gdLst/>
            <a:ahLst/>
            <a:cxnLst/>
            <a:rect r="r" b="b" t="t" l="l"/>
            <a:pathLst>
              <a:path h="1271278" w="4458180">
                <a:moveTo>
                  <a:pt x="0" y="0"/>
                </a:moveTo>
                <a:lnTo>
                  <a:pt x="4458180" y="0"/>
                </a:lnTo>
                <a:lnTo>
                  <a:pt x="4458180" y="1271278"/>
                </a:lnTo>
                <a:lnTo>
                  <a:pt x="0" y="1271278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509558" y="2272511"/>
            <a:ext cx="9974003" cy="2566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93"/>
              </a:lnSpc>
            </a:pPr>
            <a:r>
              <a:rPr lang="en-US" b="true" sz="6374">
                <a:solidFill>
                  <a:srgbClr val="7DB2FF"/>
                </a:solidFill>
                <a:latin typeface="Amaranth Bold"/>
                <a:ea typeface="Amaranth Bold"/>
                <a:cs typeface="Amaranth Bold"/>
                <a:sym typeface="Amaranth Bold"/>
              </a:rPr>
              <a:t>PHÂN ĐOẠN KHỐI U GLIOMA TỪ MRI ĐA KÊNH BẰNG U-NET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846953" y="5739096"/>
            <a:ext cx="9107775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3999">
                <a:solidFill>
                  <a:srgbClr val="7DB2FF"/>
                </a:solidFill>
                <a:latin typeface="Amaranth Bold"/>
                <a:ea typeface="Amaranth Bold"/>
                <a:cs typeface="Amaranth Bold"/>
                <a:sym typeface="Amaranth Bold"/>
              </a:rPr>
              <a:t>21114061 - Phan Mạnh Tân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038391" y="6605871"/>
            <a:ext cx="9107775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3999">
                <a:solidFill>
                  <a:srgbClr val="7DB2FF"/>
                </a:solidFill>
                <a:latin typeface="Amaranth Bold"/>
                <a:ea typeface="Amaranth Bold"/>
                <a:cs typeface="Amaranth Bold"/>
                <a:sym typeface="Amaranth Bold"/>
              </a:rPr>
              <a:t>21121741 - Nguyễn Văn Thương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03373" y="8101939"/>
            <a:ext cx="9580188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3999">
                <a:solidFill>
                  <a:srgbClr val="7DB2FF"/>
                </a:solidFill>
                <a:latin typeface="Amaranth Bold"/>
                <a:ea typeface="Amaranth Bold"/>
                <a:cs typeface="Amaranth Bold"/>
                <a:sym typeface="Amaranth Bold"/>
              </a:rPr>
              <a:t>GIẢNG VIÊN : ThS.Võ Quang Hoàng Khang</a:t>
            </a:r>
          </a:p>
          <a:p>
            <a:pPr algn="ctr">
              <a:lnSpc>
                <a:spcPts val="4199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6763199" y="1184936"/>
            <a:ext cx="5466721" cy="475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8"/>
              </a:lnSpc>
            </a:pPr>
            <a:r>
              <a:rPr lang="en-US" b="true" sz="3493">
                <a:solidFill>
                  <a:srgbClr val="7DB2FF"/>
                </a:solidFill>
                <a:latin typeface="Amaranth Bold"/>
                <a:ea typeface="Amaranth Bold"/>
                <a:cs typeface="Amaranth Bold"/>
                <a:sym typeface="Amaranth Bold"/>
              </a:rPr>
              <a:t>Khoa Công Nghệ Thông Tin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-1214117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7677423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26967" y="-318206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0"/>
                </a:moveTo>
                <a:lnTo>
                  <a:pt x="2711334" y="0"/>
                </a:lnTo>
                <a:lnTo>
                  <a:pt x="2711334" y="2862542"/>
                </a:lnTo>
                <a:lnTo>
                  <a:pt x="0" y="28625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15463272" y="7677423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0"/>
                </a:moveTo>
                <a:lnTo>
                  <a:pt x="0" y="0"/>
                </a:lnTo>
                <a:lnTo>
                  <a:pt x="0" y="2901385"/>
                </a:lnTo>
                <a:lnTo>
                  <a:pt x="3214929" y="2901385"/>
                </a:lnTo>
                <a:lnTo>
                  <a:pt x="3214929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746708" y="8907715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0"/>
                </a:moveTo>
                <a:lnTo>
                  <a:pt x="3131075" y="0"/>
                </a:lnTo>
                <a:lnTo>
                  <a:pt x="3131075" y="1810331"/>
                </a:lnTo>
                <a:lnTo>
                  <a:pt x="0" y="181033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635604" y="-288678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0"/>
                </a:moveTo>
                <a:lnTo>
                  <a:pt x="2870265" y="0"/>
                </a:lnTo>
                <a:lnTo>
                  <a:pt x="2870265" y="1317378"/>
                </a:lnTo>
                <a:lnTo>
                  <a:pt x="0" y="131737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513951" y="1535"/>
            <a:ext cx="11260099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Nội dung chính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49906" y="1597195"/>
            <a:ext cx="12865182" cy="7959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LÝ DO CHỌN ĐỀ TÀI - TÍNH CẤP THIẾT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MỤC TIÊU NGHIÊN CỨU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PHẠM VI VÀ GIỚI HẠN ĐỀ TÀI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TỔNG QUAN BÀI TOÁN &amp; NGHIÊN CỨU LIÊN QUAN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CƠ SỞ LÝ THUYẾT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PHƯƠNG PHÁP THỰC HIỆN / MÔ HÌNH ĐỀ XUẤT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THỰC NGHIỆM – KẾT QUẢ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KẾT QUẢ ĐỊNH TÍNH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ĐÓNG GÓP MỚI CỦA ĐỀ TÀI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HẠN CHẾ CỦA ĐỀ TÀI</a:t>
            </a:r>
          </a:p>
          <a:p>
            <a:pPr algn="l" marL="806532" indent="-403266" lvl="1">
              <a:lnSpc>
                <a:spcPts val="5229"/>
              </a:lnSpc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HƯỚNG PHÁT TRIỂN TƯƠNG LAI</a:t>
            </a:r>
          </a:p>
          <a:p>
            <a:pPr algn="l" marL="806532" indent="-403266" lvl="1">
              <a:lnSpc>
                <a:spcPts val="5229"/>
              </a:lnSpc>
              <a:spcBef>
                <a:spcPct val="0"/>
              </a:spcBef>
              <a:buAutoNum type="arabicPeriod" startAt="1"/>
            </a:pPr>
            <a:r>
              <a:rPr lang="en-US" b="true" sz="3735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KẾT LUẬN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388046" y="-121136"/>
            <a:ext cx="15871254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1. 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Lý do chọn đề tài - tính cấp thiết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015639"/>
            <a:ext cx="15653385" cy="494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Vấn đề thực tiễn: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U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não (Glioma) cực kỳ nguy hiểm, cần chẩn đoán sớm và chính xác 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Thực trạng: Bác sĩ khoanh vùng thủ công tốn 3-5 giờ/ca, kết quả phụ thuộc chủ quan, dễ sai sót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do mệt mỏi 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Khoảng trống nghiên cứu: Các mô hình 3D hiện đại (nnU-Net) quá nặng, đòi hỏi siêu máy tính, khó triển khai tại bệnh viện tuyến dưới ở Việt Nam.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Tính thời sự &amp; Ứng dụng: Ứng dụng AI (Deep Learning) hỗ trợ chẩn đoán hình ảnh là xu hướng tất yếu của Y tế 4.0.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919115" y="-133350"/>
            <a:ext cx="12009409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2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Mụ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 tiêu nghiên cứu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117998"/>
            <a:ext cx="15653385" cy="555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Mục tiêu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tổng quát: Xây dựng hệ thống tự động phân vùng 3 thành phần k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hối u (Hoại tử, Phù nề, Tăng quang) từ ảnh MRI đa kênh.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Mục tiêu cụ thể: </a:t>
            </a:r>
          </a:p>
          <a:p>
            <a:pPr algn="just" marL="1511301" indent="-503767" lvl="2">
              <a:lnSpc>
                <a:spcPts val="4900"/>
              </a:lnSpc>
              <a:spcBef>
                <a:spcPct val="0"/>
              </a:spcBef>
              <a:buAutoNum type="alphaLcPeriod" startAt="1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Xây dựng pipeline tiền xử lý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dữ liệu chuẩn (BraTS).</a:t>
            </a:r>
          </a:p>
          <a:p>
            <a:pPr algn="just" marL="1511301" indent="-503767" lvl="2">
              <a:lnSpc>
                <a:spcPts val="4900"/>
              </a:lnSpc>
              <a:spcBef>
                <a:spcPct val="0"/>
              </a:spcBef>
              <a:buAutoNum type="alphaLcPeriod" startAt="1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hiết kế và tối ưu kiến trúc U-Net 2D.</a:t>
            </a:r>
          </a:p>
          <a:p>
            <a:pPr algn="just" marL="1511301" indent="-503767" lvl="2">
              <a:lnSpc>
                <a:spcPts val="4900"/>
              </a:lnSpc>
              <a:spcBef>
                <a:spcPct val="0"/>
              </a:spcBef>
              <a:buAutoNum type="alphaLcPeriod" startAt="1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Đề xuất hàm mất mát kết hợp (Combined Loss) để xử lý mất cân bằng dữ liệu.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Yêu cầu kỹ thuật: Độ chính xác (Dice Score) &gt; 0.80; Thời gian xử lý &lt; 30 giây/ca.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586008" y="-133350"/>
            <a:ext cx="13115985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3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Phạm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vi và giới hạn đề tài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117998"/>
            <a:ext cx="15653385" cy="494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Đối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tượng nghiên cứu: Ảnh MRI não đa phương thức (4 c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huỗi xung: T1, T1ce, T2, FLAIR) của bệnh nhân U thần kinh đệm (Glioma).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Dữ liệu: Bộ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dữ liệu chuẩn quốc tế BraTS Challenge (BraTS 2021/2023).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P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hạm vi thuật toán: Tập trung vào kiến trúc 2D CNN (U-Net), không nghiên cứu các mô hình 3D phức tạp do giới hạn phần cứng.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Giới hạn: Kết quả dựa trên đánh giá kỹ thuật, chưa thử nghiệm lâm sàng trên bệnh nhân thực tế tại bệnh viện.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-359492" y="-133350"/>
            <a:ext cx="19006985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4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Tổng quan bài toán &amp; Nghiên cứu liên quan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117998"/>
            <a:ext cx="15653385" cy="617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Các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phương pháp truyền thống: Phân ngưỡng (Thresholding), Phát tr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iển vùng (Region Growing) → Nhược điểm: Kém chính xác khi ảnh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nhiễu, cần can thiệp thủ công nhiều 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Các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phương pháp hiện đại (Deep Learning):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U-Net (2015): Kiến trúc Encoder-Decoder chuẩn mực.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3D U-Net / Attention U-Net: Độ chính xác cao nhưng tốn tài nguyên tính toán lớn.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Lý do cần nghiên cứu mới: Cần một giải pháp "Nhẹ - Nhanh - Chính xác", chạy được trên GPU phổ thông mà vẫn đảm bảo hiệu suất chẩn đoán.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2306842" y="-595260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0"/>
                </a:moveTo>
                <a:lnTo>
                  <a:pt x="3131075" y="1810330"/>
                </a:lnTo>
                <a:lnTo>
                  <a:pt x="3131075" y="0"/>
                </a:lnTo>
                <a:lnTo>
                  <a:pt x="0" y="0"/>
                </a:lnTo>
                <a:lnTo>
                  <a:pt x="0" y="181033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-446905" y="-133350"/>
            <a:ext cx="19181811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5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Phương pháp thực hiện &amp; Mô hình đề xuất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117998"/>
            <a:ext cx="15653385" cy="679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Sơ</a:t>
            </a: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đồ quy trình (Pipeline):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Input: 4 kênh MRI → Tiền xử lý: Chuẩn hóa Z-score,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Cắt bỏ lát rỗng (Slice Selection) 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Augme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ntat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ion: Xoay, lật, chỉnh độ sáng, nhiễu Gaussian (Tăng đa dạng dữ liệu).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Model: U-Net 2D (Encoder 4 tầng, Bottleneck 512 filters).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Điểm mới - Hàm Loss đề xuất: 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Công thức: L{total} = 0.4 CE + 0.4 Dice + 0.2 Focal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Class Weights: [0.1, 2.0, 2.0, 3.0] →  Tập trung tối đa vào vùng lõi u (ET) nhỏ và khó.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25511" y="1563433"/>
            <a:ext cx="15236979" cy="8317843"/>
          </a:xfrm>
          <a:custGeom>
            <a:avLst/>
            <a:gdLst/>
            <a:ahLst/>
            <a:cxnLst/>
            <a:rect r="r" b="b" t="t" l="l"/>
            <a:pathLst>
              <a:path h="8317843" w="15236979">
                <a:moveTo>
                  <a:pt x="0" y="0"/>
                </a:moveTo>
                <a:lnTo>
                  <a:pt x="15236978" y="0"/>
                </a:lnTo>
                <a:lnTo>
                  <a:pt x="15236978" y="8317843"/>
                </a:lnTo>
                <a:lnTo>
                  <a:pt x="0" y="831784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-521532" y="-133350"/>
            <a:ext cx="19331064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5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Phương pháp thực hiện &amp; Mô hình đề xuất 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144000" y="1962286"/>
            <a:ext cx="8115300" cy="2034264"/>
          </a:xfrm>
          <a:custGeom>
            <a:avLst/>
            <a:gdLst/>
            <a:ahLst/>
            <a:cxnLst/>
            <a:rect r="r" b="b" t="t" l="l"/>
            <a:pathLst>
              <a:path h="2034264" w="8115300">
                <a:moveTo>
                  <a:pt x="0" y="0"/>
                </a:moveTo>
                <a:lnTo>
                  <a:pt x="8115300" y="0"/>
                </a:lnTo>
                <a:lnTo>
                  <a:pt x="8115300" y="2034264"/>
                </a:lnTo>
                <a:lnTo>
                  <a:pt x="0" y="203426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144000" y="4380416"/>
            <a:ext cx="8117056" cy="5316671"/>
          </a:xfrm>
          <a:custGeom>
            <a:avLst/>
            <a:gdLst/>
            <a:ahLst/>
            <a:cxnLst/>
            <a:rect r="r" b="b" t="t" l="l"/>
            <a:pathLst>
              <a:path h="5316671" w="8117056">
                <a:moveTo>
                  <a:pt x="0" y="0"/>
                </a:moveTo>
                <a:lnTo>
                  <a:pt x="8117056" y="0"/>
                </a:lnTo>
                <a:lnTo>
                  <a:pt x="8117056" y="5316672"/>
                </a:lnTo>
                <a:lnTo>
                  <a:pt x="0" y="53166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689540" y="-133350"/>
            <a:ext cx="14908919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6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Thực nghiệm - Kết quả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74963" y="1886086"/>
            <a:ext cx="6194084" cy="1844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Dữ liệu: Gồm 1000 tập brats được chuyển thành .h5 Chia tập 70% Train - 20% Val - 10% Test.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74963" y="5234846"/>
            <a:ext cx="7583578" cy="308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T1 : cấu trúc não bộ</a:t>
            </a:r>
          </a:p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T1EC : khối u bắt thuốc</a:t>
            </a:r>
          </a:p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T2 : phù nề</a:t>
            </a:r>
          </a:p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Flair : vùng phù nề với dịch não tủy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Seg : ảnh nhãn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42152" y="-1510729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384367" y="2216629"/>
            <a:ext cx="6076915" cy="7410871"/>
          </a:xfrm>
          <a:custGeom>
            <a:avLst/>
            <a:gdLst/>
            <a:ahLst/>
            <a:cxnLst/>
            <a:rect r="r" b="b" t="t" l="l"/>
            <a:pathLst>
              <a:path h="7410871" w="6076915">
                <a:moveTo>
                  <a:pt x="0" y="0"/>
                </a:moveTo>
                <a:lnTo>
                  <a:pt x="6076914" y="0"/>
                </a:lnTo>
                <a:lnTo>
                  <a:pt x="6076914" y="7410871"/>
                </a:lnTo>
                <a:lnTo>
                  <a:pt x="0" y="741087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144000" y="2275221"/>
            <a:ext cx="6397339" cy="7410871"/>
          </a:xfrm>
          <a:custGeom>
            <a:avLst/>
            <a:gdLst/>
            <a:ahLst/>
            <a:cxnLst/>
            <a:rect r="r" b="b" t="t" l="l"/>
            <a:pathLst>
              <a:path h="7410871" w="6397339">
                <a:moveTo>
                  <a:pt x="0" y="0"/>
                </a:moveTo>
                <a:lnTo>
                  <a:pt x="6397339" y="0"/>
                </a:lnTo>
                <a:lnTo>
                  <a:pt x="6397339" y="7410872"/>
                </a:lnTo>
                <a:lnTo>
                  <a:pt x="0" y="74108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860180" y="-133350"/>
            <a:ext cx="14567640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6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Thực nghiệm - Kết quả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97711" y="1323808"/>
            <a:ext cx="6564621" cy="645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89"/>
              </a:lnSpc>
              <a:spcBef>
                <a:spcPct val="0"/>
              </a:spcBef>
            </a:pPr>
            <a:r>
              <a:rPr lang="en-US" b="true" sz="384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Thông số train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898652" y="1353825"/>
            <a:ext cx="6564621" cy="645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89"/>
              </a:lnSpc>
              <a:spcBef>
                <a:spcPct val="0"/>
              </a:spcBef>
            </a:pPr>
            <a:r>
              <a:rPr lang="en-US" b="true" sz="384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Kết quả train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48934" y="1226844"/>
            <a:ext cx="5780370" cy="3843531"/>
          </a:xfrm>
          <a:custGeom>
            <a:avLst/>
            <a:gdLst/>
            <a:ahLst/>
            <a:cxnLst/>
            <a:rect r="r" b="b" t="t" l="l"/>
            <a:pathLst>
              <a:path h="3843531" w="5780370">
                <a:moveTo>
                  <a:pt x="0" y="0"/>
                </a:moveTo>
                <a:lnTo>
                  <a:pt x="5780370" y="0"/>
                </a:lnTo>
                <a:lnTo>
                  <a:pt x="5780370" y="3843531"/>
                </a:lnTo>
                <a:lnTo>
                  <a:pt x="0" y="38435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222999" y="1226844"/>
            <a:ext cx="5833638" cy="3916656"/>
          </a:xfrm>
          <a:custGeom>
            <a:avLst/>
            <a:gdLst/>
            <a:ahLst/>
            <a:cxnLst/>
            <a:rect r="r" b="b" t="t" l="l"/>
            <a:pathLst>
              <a:path h="3916656" w="5833638">
                <a:moveTo>
                  <a:pt x="0" y="0"/>
                </a:moveTo>
                <a:lnTo>
                  <a:pt x="5833638" y="0"/>
                </a:lnTo>
                <a:lnTo>
                  <a:pt x="5833638" y="3916656"/>
                </a:lnTo>
                <a:lnTo>
                  <a:pt x="0" y="391665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741327" y="5404561"/>
            <a:ext cx="6805346" cy="4545724"/>
          </a:xfrm>
          <a:custGeom>
            <a:avLst/>
            <a:gdLst/>
            <a:ahLst/>
            <a:cxnLst/>
            <a:rect r="r" b="b" t="t" l="l"/>
            <a:pathLst>
              <a:path h="4545724" w="6805346">
                <a:moveTo>
                  <a:pt x="0" y="0"/>
                </a:moveTo>
                <a:lnTo>
                  <a:pt x="6805346" y="0"/>
                </a:lnTo>
                <a:lnTo>
                  <a:pt x="6805346" y="4545724"/>
                </a:lnTo>
                <a:lnTo>
                  <a:pt x="0" y="454572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265859" y="-133350"/>
            <a:ext cx="13718692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6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Thực nghiệm - Kết quả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-326967" y="5483582"/>
            <a:ext cx="6564621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Biểu đồ loss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176583" y="5254982"/>
            <a:ext cx="2573379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Biểu đồ mean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562829" y="4095750"/>
            <a:ext cx="3124752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Biểu đồ chi tiết các giá trị học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384507" y="2195592"/>
            <a:ext cx="11518987" cy="7660126"/>
          </a:xfrm>
          <a:custGeom>
            <a:avLst/>
            <a:gdLst/>
            <a:ahLst/>
            <a:cxnLst/>
            <a:rect r="r" b="b" t="t" l="l"/>
            <a:pathLst>
              <a:path h="7660126" w="11518987">
                <a:moveTo>
                  <a:pt x="0" y="0"/>
                </a:moveTo>
                <a:lnTo>
                  <a:pt x="11518986" y="0"/>
                </a:lnTo>
                <a:lnTo>
                  <a:pt x="11518986" y="7660126"/>
                </a:lnTo>
                <a:lnTo>
                  <a:pt x="0" y="76601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3621620" y="-71095"/>
            <a:ext cx="11044761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7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Kết quả định tính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861690" y="1303680"/>
            <a:ext cx="6564621" cy="645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89"/>
              </a:lnSpc>
              <a:spcBef>
                <a:spcPct val="0"/>
              </a:spcBef>
            </a:pPr>
            <a:r>
              <a:rPr lang="en-US" b="true" sz="384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Kết quả test trên 1 lát cắt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407872" y="1536003"/>
            <a:ext cx="9472256" cy="2867214"/>
          </a:xfrm>
          <a:custGeom>
            <a:avLst/>
            <a:gdLst/>
            <a:ahLst/>
            <a:cxnLst/>
            <a:rect r="r" b="b" t="t" l="l"/>
            <a:pathLst>
              <a:path h="2867214" w="9472256">
                <a:moveTo>
                  <a:pt x="0" y="0"/>
                </a:moveTo>
                <a:lnTo>
                  <a:pt x="9472256" y="0"/>
                </a:lnTo>
                <a:lnTo>
                  <a:pt x="9472256" y="2867214"/>
                </a:lnTo>
                <a:lnTo>
                  <a:pt x="0" y="286721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3890" r="0" b="-389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407872" y="4623834"/>
            <a:ext cx="9472256" cy="5422867"/>
          </a:xfrm>
          <a:custGeom>
            <a:avLst/>
            <a:gdLst/>
            <a:ahLst/>
            <a:cxnLst/>
            <a:rect r="r" b="b" t="t" l="l"/>
            <a:pathLst>
              <a:path h="5422867" w="9472256">
                <a:moveTo>
                  <a:pt x="0" y="0"/>
                </a:moveTo>
                <a:lnTo>
                  <a:pt x="9472256" y="0"/>
                </a:lnTo>
                <a:lnTo>
                  <a:pt x="9472256" y="5422867"/>
                </a:lnTo>
                <a:lnTo>
                  <a:pt x="0" y="542286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260451" y="-133350"/>
            <a:ext cx="11767098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7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. Kết quả định tính 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67407" y="-133350"/>
            <a:ext cx="15153186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8.</a:t>
            </a: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Đóng góp mới của đề tài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117998"/>
            <a:ext cx="15653385" cy="679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Phần tự làm: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Tự xây dựng trọn vẹn pipeline từ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xử lý dữ liệu thô đến huấn luyện và đánh giá.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Tự thiết kế c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hiến lược chọn lát cắt thông minh để loại bỏ nhiễu.</a:t>
            </a:r>
          </a:p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Đóng góp mới: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Đề xuất tỷ lệ Combined Loss 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tối ưu (0.4:0.4:0.2) cho dữ liệu BraTS.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Chứng mi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nh hiệu quả của mô hình 2D "nhẹ" (7.7 triệu tham số) so với các mô hình 3D nặng 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nề.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Tốt hơn phương pháp cũ: Tốc độ suy luận &lt; 30 giây/ca (nhanh hơn hàng trăm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lần so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với làm tay), chi phí phần cứng thấp.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48958" y="-165100"/>
            <a:ext cx="14390084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9. Hạn chế của đề tài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403192"/>
            <a:ext cx="15653385" cy="555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Mất thông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tin 3D: Do xử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lý từng lát cắt 2D độc lập nên thiếu sự liên kết không gian g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iữa các lát (trục Z).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Chỉ thử nghiệm trên dữ liệu BraTS đã chuẩn hóa → chưa kiểm chứng trên MRI thô từ bệnh viện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Hiện tượng Overfitting 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nhẹ: Sau epoch 32, validation dice có xu hướng giảm nhẹ.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Chưa kiểm thử lâm sàng: Chưa có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đánh g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iá từ bác sĩ trên bệnh nhân thực tế.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Mô hình chưa ổn định với vùng khó đặc biệt là vùng NCR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73757" y="-133350"/>
            <a:ext cx="16940487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10. Hướng phát triển tương lai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2309304"/>
            <a:ext cx="15653385" cy="617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Cải tiến mô hình: Thử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nghiệm 3D U-Net hoặc tích hợp Atten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tion Gate để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tăng độ chính xác biên .</a:t>
            </a:r>
          </a:p>
          <a:p>
            <a:pPr algn="just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Mở rộng d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ữ liệu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: T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hu thập thêm dữ liệu đa trung tâm từ các bệnh viện thực tế để tăng tính tổng quát hóa.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Sả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 phẩm hóa: Xây dựng Web App hoặc tích hợp vào hệ thống PACS để bác sĩ có thể sử dụng trực tiếp.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Expl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ainable AI: Tích hợp Grad-CAM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để g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iải thích tại sao mô hình lại khoanh vùng như vậy</a:t>
            </a:r>
          </a:p>
          <a:p>
            <a:pPr algn="just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Kết hợp AI xây dựng thông AI Agent tự động hóa các quy trình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410" y="7976491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32185" y="-1480712"/>
            <a:ext cx="3758453" cy="3758453"/>
          </a:xfrm>
          <a:custGeom>
            <a:avLst/>
            <a:gdLst/>
            <a:ahLst/>
            <a:cxnLst/>
            <a:rect r="r" b="b" t="t" l="l"/>
            <a:pathLst>
              <a:path h="3758453" w="3758453">
                <a:moveTo>
                  <a:pt x="0" y="0"/>
                </a:moveTo>
                <a:lnTo>
                  <a:pt x="3758453" y="0"/>
                </a:lnTo>
                <a:lnTo>
                  <a:pt x="3758453" y="3758453"/>
                </a:lnTo>
                <a:lnTo>
                  <a:pt x="0" y="375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326967" y="7677423"/>
            <a:ext cx="2711333" cy="2862542"/>
          </a:xfrm>
          <a:custGeom>
            <a:avLst/>
            <a:gdLst/>
            <a:ahLst/>
            <a:cxnLst/>
            <a:rect r="r" b="b" t="t" l="l"/>
            <a:pathLst>
              <a:path h="2862542" w="2711333">
                <a:moveTo>
                  <a:pt x="0" y="2862542"/>
                </a:moveTo>
                <a:lnTo>
                  <a:pt x="2711334" y="2862542"/>
                </a:lnTo>
                <a:lnTo>
                  <a:pt x="2711334" y="0"/>
                </a:lnTo>
                <a:lnTo>
                  <a:pt x="0" y="0"/>
                </a:lnTo>
                <a:lnTo>
                  <a:pt x="0" y="286254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463272" y="-421992"/>
            <a:ext cx="3214928" cy="2901385"/>
          </a:xfrm>
          <a:custGeom>
            <a:avLst/>
            <a:gdLst/>
            <a:ahLst/>
            <a:cxnLst/>
            <a:rect r="r" b="b" t="t" l="l"/>
            <a:pathLst>
              <a:path h="2901385" w="3214928">
                <a:moveTo>
                  <a:pt x="3214929" y="2901384"/>
                </a:moveTo>
                <a:lnTo>
                  <a:pt x="0" y="2901384"/>
                </a:lnTo>
                <a:lnTo>
                  <a:pt x="0" y="0"/>
                </a:lnTo>
                <a:lnTo>
                  <a:pt x="3214929" y="0"/>
                </a:lnTo>
                <a:lnTo>
                  <a:pt x="3214929" y="290138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746708" y="-439976"/>
            <a:ext cx="3131075" cy="1810331"/>
          </a:xfrm>
          <a:custGeom>
            <a:avLst/>
            <a:gdLst/>
            <a:ahLst/>
            <a:cxnLst/>
            <a:rect r="r" b="b" t="t" l="l"/>
            <a:pathLst>
              <a:path h="1810331" w="3131075">
                <a:moveTo>
                  <a:pt x="0" y="1810331"/>
                </a:moveTo>
                <a:lnTo>
                  <a:pt x="3131075" y="1810331"/>
                </a:lnTo>
                <a:lnTo>
                  <a:pt x="3131075" y="0"/>
                </a:lnTo>
                <a:lnTo>
                  <a:pt x="0" y="0"/>
                </a:lnTo>
                <a:lnTo>
                  <a:pt x="0" y="18103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635604" y="9222587"/>
            <a:ext cx="2870265" cy="1317378"/>
          </a:xfrm>
          <a:custGeom>
            <a:avLst/>
            <a:gdLst/>
            <a:ahLst/>
            <a:cxnLst/>
            <a:rect r="r" b="b" t="t" l="l"/>
            <a:pathLst>
              <a:path h="1317378" w="2870265">
                <a:moveTo>
                  <a:pt x="0" y="1317378"/>
                </a:moveTo>
                <a:lnTo>
                  <a:pt x="2870265" y="1317378"/>
                </a:lnTo>
                <a:lnTo>
                  <a:pt x="2870265" y="0"/>
                </a:lnTo>
                <a:lnTo>
                  <a:pt x="0" y="0"/>
                </a:lnTo>
                <a:lnTo>
                  <a:pt x="0" y="1317378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761627" y="-133350"/>
            <a:ext cx="8764745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11. Kết luận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7307" y="3498845"/>
            <a:ext cx="15653385" cy="308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00"/>
              </a:lnSpc>
            </a:pP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Tổng kết: Đã xây dựng thành</a:t>
            </a: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 công hệ thống phân vùng u nã</a:t>
            </a: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o tự độ</a:t>
            </a:r>
            <a:r>
              <a:rPr lang="en-US" sz="3500" b="true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ng với độ chính xác cao (Dice ~0.83), có thể nhận biết được các  vùng ET,ED,NCR  ,đáp ứng tố</a:t>
            </a: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t mục tiêu đề ra. </a:t>
            </a:r>
          </a:p>
          <a:p>
            <a:pPr algn="just">
              <a:lnSpc>
                <a:spcPts val="4900"/>
              </a:lnSpc>
            </a:p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17548F"/>
                </a:solidFill>
                <a:latin typeface="Faustina Bold"/>
                <a:ea typeface="Faustina Bold"/>
                <a:cs typeface="Faustina Bold"/>
                <a:sym typeface="Faustina Bold"/>
              </a:rPr>
              <a:t>Xin chân thành cảm ơn Thầy hướng dẫn và Quý Hội đồng.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DAG6XU-MUa8</dc:identifier>
  <dcterms:modified xsi:type="dcterms:W3CDTF">2011-08-01T06:04:30Z</dcterms:modified>
  <cp:revision>1</cp:revision>
  <dc:title>Final</dc:title>
</cp:coreProperties>
</file>